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D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-2011680"/>
            <a:ext cx="5029200" cy="5029200"/>
          </a:xfrm>
          <a:prstGeom prst="ellipse">
            <a:avLst/>
          </a:prstGeom>
          <a:solidFill>
            <a:srgbClr val="1C7CA5">
              <a:alpha val="4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728655" y="4480560"/>
            <a:ext cx="2926080" cy="2926080"/>
          </a:xfrm>
          <a:prstGeom prst="ellipse">
            <a:avLst/>
          </a:prstGeom>
          <a:solidFill>
            <a:srgbClr val="E5B23C">
              <a:alpha val="2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234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E5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ТӘУЕЛСІЗДІК ҰРПАҚТАРЫ · ГРАНТ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178308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Tarixi-Timeline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822960" y="3063240"/>
            <a:ext cx="8961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Қазақстан тарихы мен әдебиетін зерттеуге арналған интерактивті білім беру платформасы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841248" y="4297680"/>
            <a:ext cx="5669280" cy="0"/>
          </a:xfrm>
          <a:prstGeom prst="line">
            <a:avLst/>
          </a:prstGeom>
          <a:noFill/>
          <a:ln w="25400">
            <a:solidFill>
              <a:srgbClr val="E5B23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4242816"/>
            <a:ext cx="109728" cy="109728"/>
          </a:xfrm>
          <a:prstGeom prst="ellipse">
            <a:avLst/>
          </a:prstGeom>
          <a:solidFill>
            <a:srgbClr val="E5B23C"/>
          </a:solidFill>
          <a:ln/>
        </p:spPr>
      </p:sp>
      <p:sp>
        <p:nvSpPr>
          <p:cNvPr id="9" name="Shape 7"/>
          <p:cNvSpPr/>
          <p:nvPr/>
        </p:nvSpPr>
        <p:spPr>
          <a:xfrm>
            <a:off x="1920240" y="4242816"/>
            <a:ext cx="109728" cy="109728"/>
          </a:xfrm>
          <a:prstGeom prst="ellipse">
            <a:avLst/>
          </a:prstGeom>
          <a:solidFill>
            <a:srgbClr val="E5B23C"/>
          </a:solidFill>
          <a:ln/>
        </p:spPr>
      </p:sp>
      <p:sp>
        <p:nvSpPr>
          <p:cNvPr id="10" name="Shape 8"/>
          <p:cNvSpPr/>
          <p:nvPr/>
        </p:nvSpPr>
        <p:spPr>
          <a:xfrm>
            <a:off x="3054096" y="4242816"/>
            <a:ext cx="109728" cy="109728"/>
          </a:xfrm>
          <a:prstGeom prst="ellipse">
            <a:avLst/>
          </a:prstGeom>
          <a:solidFill>
            <a:srgbClr val="E5B23C"/>
          </a:solidFill>
          <a:ln/>
        </p:spPr>
      </p:sp>
      <p:sp>
        <p:nvSpPr>
          <p:cNvPr id="11" name="Shape 9"/>
          <p:cNvSpPr/>
          <p:nvPr/>
        </p:nvSpPr>
        <p:spPr>
          <a:xfrm>
            <a:off x="4187952" y="4242816"/>
            <a:ext cx="109728" cy="109728"/>
          </a:xfrm>
          <a:prstGeom prst="ellipse">
            <a:avLst/>
          </a:prstGeom>
          <a:solidFill>
            <a:srgbClr val="E5B23C"/>
          </a:solidFill>
          <a:ln/>
        </p:spPr>
      </p:sp>
      <p:sp>
        <p:nvSpPr>
          <p:cNvPr id="12" name="Shape 10"/>
          <p:cNvSpPr/>
          <p:nvPr/>
        </p:nvSpPr>
        <p:spPr>
          <a:xfrm>
            <a:off x="5321808" y="4242816"/>
            <a:ext cx="109728" cy="109728"/>
          </a:xfrm>
          <a:prstGeom prst="ellipse">
            <a:avLst/>
          </a:prstGeom>
          <a:solidFill>
            <a:srgbClr val="E5B23C"/>
          </a:solidFill>
          <a:ln/>
        </p:spPr>
      </p:sp>
      <p:sp>
        <p:nvSpPr>
          <p:cNvPr id="13" name="Shape 11"/>
          <p:cNvSpPr/>
          <p:nvPr/>
        </p:nvSpPr>
        <p:spPr>
          <a:xfrm>
            <a:off x="6455664" y="4242816"/>
            <a:ext cx="109728" cy="109728"/>
          </a:xfrm>
          <a:prstGeom prst="ellipse">
            <a:avLst/>
          </a:prstGeom>
          <a:solidFill>
            <a:srgbClr val="E5B23C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5029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5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Бағыт:  </a:t>
            </a:r>
            <a:pPr indent="0" marL="0">
              <a:buNone/>
            </a:pPr>
            <a:r>
              <a:rPr lang="en-US" sz="1500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Ақпараттық технологиялар (EdTech)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54406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5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Грант сомасы:  </a:t>
            </a:r>
            <a:pPr indent="0" marL="0">
              <a:buNone/>
            </a:pPr>
            <a:r>
              <a:rPr lang="en-US" sz="1500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3 000 000 теңге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943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FC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Bekassyl Karazhan · ҚР ПІБ МТҚБ Инженерлік орталығының бас бағдарламашысы, техника ғылымдарының магистрі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5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МӘСЕЛЕ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3D5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Тарих жаттауға айналды, түсінуге емес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5532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Қазіргі мектептегі Қазақстан тарихы мен әдебиетін оқыту негізінен даталар мен фактілерді механикалық жаттауға бағытталған. Бұл пәнді үстірт қабылдауды қалыптастырады және оқушылардың қызығушылығын төмендетеді.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703320"/>
            <a:ext cx="5532120" cy="54864"/>
          </a:xfrm>
          <a:prstGeom prst="rect">
            <a:avLst/>
          </a:prstGeom>
          <a:solidFill>
            <a:srgbClr val="E5B23C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3886200"/>
            <a:ext cx="5532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0B3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Басты кемшілік - эмпатиялық байланыстың жоқтығы.
</a:t>
            </a:r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Оқушылар тарихи тұлғаларды мінезі мен дәуір контексі бар нақты адамдар ретінде емес, оқулықтағы дерексіз есімдер ретінде қабылдайды.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46520" y="1691640"/>
            <a:ext cx="507492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0B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720840" y="2075688"/>
            <a:ext cx="566928" cy="566928"/>
          </a:xfrm>
          <a:prstGeom prst="ellipse">
            <a:avLst/>
          </a:prstGeom>
          <a:solidFill>
            <a:srgbClr val="0B3D54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30568" y="2185416"/>
            <a:ext cx="347472" cy="34747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498080" y="1947672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3D5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Жаттау</a:t>
            </a:r>
            <a:endParaRPr lang="en-US" sz="1900" dirty="0"/>
          </a:p>
        </p:txBody>
      </p:sp>
      <p:sp>
        <p:nvSpPr>
          <p:cNvPr id="11" name="Text 8"/>
          <p:cNvSpPr/>
          <p:nvPr/>
        </p:nvSpPr>
        <p:spPr>
          <a:xfrm>
            <a:off x="7498080" y="240487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белсенді ойлаудың орнына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446520" y="3182112"/>
            <a:ext cx="507492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0B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720840" y="3566160"/>
            <a:ext cx="566928" cy="566928"/>
          </a:xfrm>
          <a:prstGeom prst="ellipse">
            <a:avLst/>
          </a:prstGeom>
          <a:solidFill>
            <a:srgbClr val="0B3D54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0568" y="3675888"/>
            <a:ext cx="347472" cy="347472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498080" y="3438144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3D5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Төмен қызығушылық</a:t>
            </a:r>
            <a:endParaRPr lang="en-US" sz="1900" dirty="0"/>
          </a:p>
        </p:txBody>
      </p:sp>
      <p:sp>
        <p:nvSpPr>
          <p:cNvPr id="16" name="Text 12"/>
          <p:cNvSpPr/>
          <p:nvPr/>
        </p:nvSpPr>
        <p:spPr>
          <a:xfrm>
            <a:off x="7498080" y="3895344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ұлттық тарихқа деген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6446520" y="4672584"/>
            <a:ext cx="507492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0B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6720840" y="5056632"/>
            <a:ext cx="566928" cy="566928"/>
          </a:xfrm>
          <a:prstGeom prst="ellipse">
            <a:avLst/>
          </a:prstGeom>
          <a:solidFill>
            <a:srgbClr val="0B3D54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0568" y="5166360"/>
            <a:ext cx="347472" cy="34747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7498080" y="4928616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3D5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Фрагментті білім</a:t>
            </a:r>
            <a:endParaRPr lang="en-US" sz="1900" dirty="0"/>
          </a:p>
        </p:txBody>
      </p:sp>
      <p:sp>
        <p:nvSpPr>
          <p:cNvPr id="21" name="Text 16"/>
          <p:cNvSpPr/>
          <p:nvPr/>
        </p:nvSpPr>
        <p:spPr>
          <a:xfrm>
            <a:off x="7498080" y="5385816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жүйелі түсініктің орнына</a:t>
            </a:r>
            <a:endParaRPr lang="en-US" sz="1300" dirty="0"/>
          </a:p>
        </p:txBody>
      </p:sp>
      <p:sp>
        <p:nvSpPr>
          <p:cNvPr id="22" name="Text 17"/>
          <p:cNvSpPr/>
          <p:nvPr/>
        </p:nvSpPr>
        <p:spPr>
          <a:xfrm>
            <a:off x="10728655" y="6355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10</a:t>
            </a:r>
            <a:endParaRPr lang="en-US" sz="1000" dirty="0"/>
          </a:p>
        </p:txBody>
      </p:sp>
      <p:sp>
        <p:nvSpPr>
          <p:cNvPr id="23" name="Text 18"/>
          <p:cNvSpPr/>
          <p:nvPr/>
        </p:nvSpPr>
        <p:spPr>
          <a:xfrm>
            <a:off x="64008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Tarixi-Timeline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3D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5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ШЕШІМ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Оқудан - сұхбатқа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64592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«Tarixi-Timeline» платформасы екі құралды біріктіреді және оқуды пассивті оқу режимінен белсенді коммуникация режиміне көшіреді.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5394960" cy="3291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2606040"/>
            <a:ext cx="5394960" cy="109728"/>
          </a:xfrm>
          <a:prstGeom prst="rect">
            <a:avLst/>
          </a:prstGeom>
          <a:solidFill>
            <a:srgbClr val="E5B23C"/>
          </a:solidFill>
          <a:ln/>
        </p:spPr>
      </p:sp>
      <p:sp>
        <p:nvSpPr>
          <p:cNvPr id="7" name="Shape 5"/>
          <p:cNvSpPr/>
          <p:nvPr/>
        </p:nvSpPr>
        <p:spPr>
          <a:xfrm>
            <a:off x="1051560" y="3063240"/>
            <a:ext cx="868680" cy="868680"/>
          </a:xfrm>
          <a:prstGeom prst="ellipse">
            <a:avLst/>
          </a:prstGeom>
          <a:solidFill>
            <a:srgbClr val="0B3D54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61872" y="3273552"/>
            <a:ext cx="457200" cy="4572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051560" y="411480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0B3D5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Интерактивті хронологиялық таймлайн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1051560" y="4846320"/>
            <a:ext cx="4617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Тарихи оқиғаларды, даталар мен әдеби дәуірлерді көрнекі әрі құрылымды түрде ұсынады. Оқушы уақыт осінде еркін шарлап, тұлғалар мен оқиғалардың өзара байланысын көреді.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309360" y="2606040"/>
            <a:ext cx="5394960" cy="3291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309360" y="2606040"/>
            <a:ext cx="5394960" cy="109728"/>
          </a:xfrm>
          <a:prstGeom prst="rect">
            <a:avLst/>
          </a:prstGeom>
          <a:solidFill>
            <a:srgbClr val="E5B23C"/>
          </a:solidFill>
          <a:ln/>
        </p:spPr>
      </p:sp>
      <p:sp>
        <p:nvSpPr>
          <p:cNvPr id="13" name="Shape 10"/>
          <p:cNvSpPr/>
          <p:nvPr/>
        </p:nvSpPr>
        <p:spPr>
          <a:xfrm>
            <a:off x="6720840" y="3063240"/>
            <a:ext cx="868680" cy="868680"/>
          </a:xfrm>
          <a:prstGeom prst="ellipse">
            <a:avLst/>
          </a:prstGeom>
          <a:solidFill>
            <a:srgbClr val="0B3D54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31152" y="3273552"/>
            <a:ext cx="457200" cy="45720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6720840" y="411480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0B3D5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Тарихи тұлғалармен ИИ-чат</a:t>
            </a:r>
            <a:endParaRPr lang="en-US" sz="1900" dirty="0"/>
          </a:p>
        </p:txBody>
      </p:sp>
      <p:sp>
        <p:nvSpPr>
          <p:cNvPr id="16" name="Text 12"/>
          <p:cNvSpPr/>
          <p:nvPr/>
        </p:nvSpPr>
        <p:spPr>
          <a:xfrm>
            <a:off x="6720840" y="4846320"/>
            <a:ext cx="4617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Генеративті тіл модельдері (LLM) негізінде Қазақстанның тарихи тұлғаларының виртуалды бейнелерімен тірі диалог. Әр агент дәуірге сай мінез бен дәйектілікке ие.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10728655" y="6355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10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64008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Tarixi-Timeline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5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ӨНІМ · ҚАЛАЙ ЖҰМЫС ІСТЕЙДІ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3D5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Үш қадамда - тарихпен жанды байланыс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352044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0B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210312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D6BE8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01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3108960" y="2240280"/>
            <a:ext cx="749808" cy="749808"/>
          </a:xfrm>
          <a:prstGeom prst="ellipse">
            <a:avLst/>
          </a:prstGeom>
          <a:solidFill>
            <a:srgbClr val="0B3D54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82696" y="2414016"/>
            <a:ext cx="402336" cy="40233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306324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3D5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Таймлайнды ашу</a:t>
            </a:r>
            <a:endParaRPr lang="en-US" sz="1650" dirty="0"/>
          </a:p>
        </p:txBody>
      </p:sp>
      <p:sp>
        <p:nvSpPr>
          <p:cNvPr id="9" name="Text 6"/>
          <p:cNvSpPr/>
          <p:nvPr/>
        </p:nvSpPr>
        <p:spPr>
          <a:xfrm>
            <a:off x="914400" y="3657600"/>
            <a:ext cx="3154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Оқушы дәуірді немесе оқиғаны таңдайды. Даталар, тұлғалар мен әдеби кезеңдер бір көрнекі осьте.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61688" y="1920240"/>
            <a:ext cx="352044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0B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4636008" y="210312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D6BE8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02</a:t>
            </a:r>
            <a:endParaRPr lang="en-US" sz="4000" dirty="0"/>
          </a:p>
        </p:txBody>
      </p:sp>
      <p:sp>
        <p:nvSpPr>
          <p:cNvPr id="12" name="Shape 9"/>
          <p:cNvSpPr/>
          <p:nvPr/>
        </p:nvSpPr>
        <p:spPr>
          <a:xfrm>
            <a:off x="6830568" y="2240280"/>
            <a:ext cx="749808" cy="749808"/>
          </a:xfrm>
          <a:prstGeom prst="ellipse">
            <a:avLst/>
          </a:prstGeom>
          <a:solidFill>
            <a:srgbClr val="0B3D54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4304" y="2414016"/>
            <a:ext cx="402336" cy="40233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636008" y="306324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3D5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Тұлғамен сөйлесу</a:t>
            </a:r>
            <a:endParaRPr lang="en-US" sz="1650" dirty="0"/>
          </a:p>
        </p:txBody>
      </p:sp>
      <p:sp>
        <p:nvSpPr>
          <p:cNvPr id="15" name="Text 11"/>
          <p:cNvSpPr/>
          <p:nvPr/>
        </p:nvSpPr>
        <p:spPr>
          <a:xfrm>
            <a:off x="4636008" y="3657600"/>
            <a:ext cx="3154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Әл-Фараби, Абай немесе хан-билермен ИИ арқылы сұхбаттасады - нақты адаммен сөйлескендей.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8083296" y="1920240"/>
            <a:ext cx="352044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0B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7" name="Text 13"/>
          <p:cNvSpPr/>
          <p:nvPr/>
        </p:nvSpPr>
        <p:spPr>
          <a:xfrm>
            <a:off x="8357616" y="210312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D6BE8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03</a:t>
            </a:r>
            <a:endParaRPr lang="en-US" sz="4000" dirty="0"/>
          </a:p>
        </p:txBody>
      </p:sp>
      <p:sp>
        <p:nvSpPr>
          <p:cNvPr id="18" name="Shape 14"/>
          <p:cNvSpPr/>
          <p:nvPr/>
        </p:nvSpPr>
        <p:spPr>
          <a:xfrm>
            <a:off x="10552176" y="2240280"/>
            <a:ext cx="749808" cy="749808"/>
          </a:xfrm>
          <a:prstGeom prst="ellipse">
            <a:avLst/>
          </a:prstGeom>
          <a:solidFill>
            <a:srgbClr val="0B3D54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25912" y="2414016"/>
            <a:ext cx="402336" cy="402336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357616" y="306324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3D5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Терең түсіну</a:t>
            </a:r>
            <a:endParaRPr lang="en-US" sz="1650" dirty="0"/>
          </a:p>
        </p:txBody>
      </p:sp>
      <p:sp>
        <p:nvSpPr>
          <p:cNvPr id="21" name="Text 16"/>
          <p:cNvSpPr/>
          <p:nvPr/>
        </p:nvSpPr>
        <p:spPr>
          <a:xfrm>
            <a:off x="8357616" y="3657600"/>
            <a:ext cx="3154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Эмоциялық тартылыс білімді есте сақтауды арттырады, тарихи ойлауды қалыптастырады.</a:t>
            </a:r>
            <a:endParaRPr lang="en-US" sz="1250" dirty="0"/>
          </a:p>
        </p:txBody>
      </p:sp>
      <p:sp>
        <p:nvSpPr>
          <p:cNvPr id="22" name="Shape 17"/>
          <p:cNvSpPr/>
          <p:nvPr/>
        </p:nvSpPr>
        <p:spPr>
          <a:xfrm>
            <a:off x="868680" y="5943600"/>
            <a:ext cx="10424160" cy="0"/>
          </a:xfrm>
          <a:prstGeom prst="line">
            <a:avLst/>
          </a:prstGeom>
          <a:noFill/>
          <a:ln w="25400">
            <a:solidFill>
              <a:srgbClr val="C9962B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813816" y="5888736"/>
            <a:ext cx="109728" cy="109728"/>
          </a:xfrm>
          <a:prstGeom prst="ellipse">
            <a:avLst/>
          </a:prstGeom>
          <a:solidFill>
            <a:srgbClr val="C9962B"/>
          </a:solidFill>
          <a:ln/>
        </p:spPr>
      </p:sp>
      <p:sp>
        <p:nvSpPr>
          <p:cNvPr id="24" name="Shape 19"/>
          <p:cNvSpPr/>
          <p:nvPr/>
        </p:nvSpPr>
        <p:spPr>
          <a:xfrm>
            <a:off x="2551176" y="5888736"/>
            <a:ext cx="109728" cy="109728"/>
          </a:xfrm>
          <a:prstGeom prst="ellipse">
            <a:avLst/>
          </a:prstGeom>
          <a:solidFill>
            <a:srgbClr val="C9962B"/>
          </a:solidFill>
          <a:ln/>
        </p:spPr>
      </p:sp>
      <p:sp>
        <p:nvSpPr>
          <p:cNvPr id="25" name="Shape 20"/>
          <p:cNvSpPr/>
          <p:nvPr/>
        </p:nvSpPr>
        <p:spPr>
          <a:xfrm>
            <a:off x="4288536" y="5888736"/>
            <a:ext cx="109728" cy="109728"/>
          </a:xfrm>
          <a:prstGeom prst="ellipse">
            <a:avLst/>
          </a:prstGeom>
          <a:solidFill>
            <a:srgbClr val="C9962B"/>
          </a:solidFill>
          <a:ln/>
        </p:spPr>
      </p:sp>
      <p:sp>
        <p:nvSpPr>
          <p:cNvPr id="26" name="Shape 21"/>
          <p:cNvSpPr/>
          <p:nvPr/>
        </p:nvSpPr>
        <p:spPr>
          <a:xfrm>
            <a:off x="6025896" y="5888736"/>
            <a:ext cx="109728" cy="109728"/>
          </a:xfrm>
          <a:prstGeom prst="ellipse">
            <a:avLst/>
          </a:prstGeom>
          <a:solidFill>
            <a:srgbClr val="C9962B"/>
          </a:solidFill>
          <a:ln/>
        </p:spPr>
      </p:sp>
      <p:sp>
        <p:nvSpPr>
          <p:cNvPr id="27" name="Shape 22"/>
          <p:cNvSpPr/>
          <p:nvPr/>
        </p:nvSpPr>
        <p:spPr>
          <a:xfrm>
            <a:off x="7763256" y="5888736"/>
            <a:ext cx="109728" cy="109728"/>
          </a:xfrm>
          <a:prstGeom prst="ellipse">
            <a:avLst/>
          </a:prstGeom>
          <a:solidFill>
            <a:srgbClr val="C9962B"/>
          </a:solidFill>
          <a:ln/>
        </p:spPr>
      </p:sp>
      <p:sp>
        <p:nvSpPr>
          <p:cNvPr id="28" name="Shape 23"/>
          <p:cNvSpPr/>
          <p:nvPr/>
        </p:nvSpPr>
        <p:spPr>
          <a:xfrm>
            <a:off x="9500616" y="5888736"/>
            <a:ext cx="109728" cy="109728"/>
          </a:xfrm>
          <a:prstGeom prst="ellipse">
            <a:avLst/>
          </a:prstGeom>
          <a:solidFill>
            <a:srgbClr val="C9962B"/>
          </a:solidFill>
          <a:ln/>
        </p:spPr>
      </p:sp>
      <p:sp>
        <p:nvSpPr>
          <p:cNvPr id="29" name="Shape 24"/>
          <p:cNvSpPr/>
          <p:nvPr/>
        </p:nvSpPr>
        <p:spPr>
          <a:xfrm>
            <a:off x="11237976" y="5888736"/>
            <a:ext cx="109728" cy="109728"/>
          </a:xfrm>
          <a:prstGeom prst="ellipse">
            <a:avLst/>
          </a:prstGeom>
          <a:solidFill>
            <a:srgbClr val="C9962B"/>
          </a:solidFill>
          <a:ln/>
        </p:spPr>
      </p:sp>
      <p:sp>
        <p:nvSpPr>
          <p:cNvPr id="30" name="Text 25"/>
          <p:cNvSpPr/>
          <p:nvPr/>
        </p:nvSpPr>
        <p:spPr>
          <a:xfrm>
            <a:off x="10728655" y="6355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10</a:t>
            </a:r>
            <a:endParaRPr lang="en-US" sz="1000" dirty="0"/>
          </a:p>
        </p:txBody>
      </p:sp>
      <p:sp>
        <p:nvSpPr>
          <p:cNvPr id="31" name="Text 26"/>
          <p:cNvSpPr/>
          <p:nvPr/>
        </p:nvSpPr>
        <p:spPr>
          <a:xfrm>
            <a:off x="64008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Tarixi-Timeline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5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ИНТЕРФЕЙС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3D5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Таймлайн және детальді ақпарат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03504" y="1746504"/>
            <a:ext cx="6839712" cy="3879342"/>
          </a:xfrm>
          <a:prstGeom prst="rect">
            <a:avLst/>
          </a:prstGeom>
          <a:solidFill>
            <a:srgbClr val="0B3D54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pic>
        <p:nvPicPr>
          <p:cNvPr id="5" name="Image 0" descr="/Users/bekas/Developer/tarixi-timeline/grant-presentation/screen-over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783080"/>
            <a:ext cx="6766560" cy="380619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22960" y="3530727"/>
            <a:ext cx="310896" cy="310896"/>
          </a:xfrm>
          <a:prstGeom prst="ellipse">
            <a:avLst/>
          </a:prstGeom>
          <a:solidFill>
            <a:srgbClr val="E5B23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22960" y="353072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3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529584" y="2274684"/>
            <a:ext cx="310896" cy="310896"/>
          </a:xfrm>
          <a:prstGeom prst="ellipse">
            <a:avLst/>
          </a:prstGeom>
          <a:solidFill>
            <a:srgbClr val="E5B23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529584" y="22746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3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747565" y="3264294"/>
            <a:ext cx="310896" cy="310896"/>
          </a:xfrm>
          <a:prstGeom prst="ellipse">
            <a:avLst/>
          </a:prstGeom>
          <a:solidFill>
            <a:srgbClr val="E5B23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747565" y="326429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3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3867912" y="5167389"/>
            <a:ext cx="310896" cy="310896"/>
          </a:xfrm>
          <a:prstGeom prst="ellipse">
            <a:avLst/>
          </a:prstGeom>
          <a:solidFill>
            <a:srgbClr val="E5B23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867912" y="516738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3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58368" y="5797296"/>
            <a:ext cx="237744" cy="237744"/>
          </a:xfrm>
          <a:prstGeom prst="ellipse">
            <a:avLst/>
          </a:prstGeom>
          <a:solidFill>
            <a:srgbClr val="0B3D54"/>
          </a:solidFill>
          <a:ln/>
        </p:spPr>
      </p:sp>
      <p:sp>
        <p:nvSpPr>
          <p:cNvPr id="15" name="Text 12"/>
          <p:cNvSpPr/>
          <p:nvPr/>
        </p:nvSpPr>
        <p:spPr>
          <a:xfrm>
            <a:off x="658368" y="579729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5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969264" y="5760720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Сүзгілер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2359152" y="5797296"/>
            <a:ext cx="237744" cy="237744"/>
          </a:xfrm>
          <a:prstGeom prst="ellipse">
            <a:avLst/>
          </a:prstGeom>
          <a:solidFill>
            <a:srgbClr val="0B3D54"/>
          </a:solidFill>
          <a:ln/>
        </p:spPr>
      </p:sp>
      <p:sp>
        <p:nvSpPr>
          <p:cNvPr id="18" name="Text 15"/>
          <p:cNvSpPr/>
          <p:nvPr/>
        </p:nvSpPr>
        <p:spPr>
          <a:xfrm>
            <a:off x="2359152" y="579729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5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2670048" y="5760720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Дәуірлер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059936" y="5797296"/>
            <a:ext cx="237744" cy="237744"/>
          </a:xfrm>
          <a:prstGeom prst="ellipse">
            <a:avLst/>
          </a:prstGeom>
          <a:solidFill>
            <a:srgbClr val="0B3D54"/>
          </a:solidFill>
          <a:ln/>
        </p:spPr>
      </p:sp>
      <p:sp>
        <p:nvSpPr>
          <p:cNvPr id="21" name="Text 18"/>
          <p:cNvSpPr/>
          <p:nvPr/>
        </p:nvSpPr>
        <p:spPr>
          <a:xfrm>
            <a:off x="4059936" y="579729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5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370832" y="5760720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Тұлғалар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5760720" y="5797296"/>
            <a:ext cx="237744" cy="237744"/>
          </a:xfrm>
          <a:prstGeom prst="ellipse">
            <a:avLst/>
          </a:prstGeom>
          <a:solidFill>
            <a:srgbClr val="0B3D54"/>
          </a:solidFill>
          <a:ln/>
        </p:spPr>
      </p:sp>
      <p:sp>
        <p:nvSpPr>
          <p:cNvPr id="24" name="Text 21"/>
          <p:cNvSpPr/>
          <p:nvPr/>
        </p:nvSpPr>
        <p:spPr>
          <a:xfrm>
            <a:off x="5760720" y="579729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5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6071616" y="5760720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Миникарта</a:t>
            </a:r>
            <a:endParaRPr lang="en-US" sz="1150" dirty="0"/>
          </a:p>
        </p:txBody>
      </p:sp>
      <p:sp>
        <p:nvSpPr>
          <p:cNvPr id="26" name="Text 23"/>
          <p:cNvSpPr/>
          <p:nvPr/>
        </p:nvSpPr>
        <p:spPr>
          <a:xfrm>
            <a:off x="7772400" y="178308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5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ДЕТАЛЬДІ ПАНЕЛЬ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7781544" y="2157984"/>
            <a:ext cx="2862072" cy="3518288"/>
          </a:xfrm>
          <a:prstGeom prst="rect">
            <a:avLst/>
          </a:prstGeom>
          <a:solidFill>
            <a:srgbClr val="0B3D54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pic>
        <p:nvPicPr>
          <p:cNvPr id="28" name="Image 1" descr="/Users/bekas/Developer/tarixi-timeline/grant-presentation/crop-detai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8120" y="2194560"/>
            <a:ext cx="2788920" cy="3445136"/>
          </a:xfrm>
          <a:prstGeom prst="rect">
            <a:avLst/>
          </a:prstGeom>
        </p:spPr>
      </p:pic>
      <p:sp>
        <p:nvSpPr>
          <p:cNvPr id="29" name="Text 25"/>
          <p:cNvSpPr/>
          <p:nvPr/>
        </p:nvSpPr>
        <p:spPr>
          <a:xfrm>
            <a:off x="7772400" y="5749424"/>
            <a:ext cx="3794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Объектіні таңдағанда фото, сипаттама және ИИ-чатты ашатын «Поговорить» батырмасы көрінеді.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10728655" y="6355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10</a:t>
            </a:r>
            <a:endParaRPr lang="en-US" sz="1000" dirty="0"/>
          </a:p>
        </p:txBody>
      </p:sp>
      <p:sp>
        <p:nvSpPr>
          <p:cNvPr id="31" name="Text 27"/>
          <p:cNvSpPr/>
          <p:nvPr/>
        </p:nvSpPr>
        <p:spPr>
          <a:xfrm>
            <a:off x="64008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Tarixi-Timeline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5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ИНТЕРФЕЙС · ИННОВАЦИЯ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3D5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Тарихи тұлғалармен ИИ-сұхбат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03504" y="1700784"/>
            <a:ext cx="3159252" cy="4187952"/>
          </a:xfrm>
          <a:prstGeom prst="rect">
            <a:avLst/>
          </a:prstGeom>
          <a:solidFill>
            <a:srgbClr val="0B3D54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pic>
        <p:nvPicPr>
          <p:cNvPr id="5" name="Image 0" descr="/Users/bekas/Developer/tarixi-timeline/grant-presentation/chat-mod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737360"/>
            <a:ext cx="308610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5961888"/>
            <a:ext cx="41833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E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Нақты экран — Әл-Фарабимен қазақша диалог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4366260" y="1828800"/>
            <a:ext cx="7157923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Эмпатиялық терең ену — платформаның басты ерекшелігі. Оқушы тарихи тұлғамен нақты адаммен сөйлескендей сұхбаттасады, бұл білімді есте сақтауды күшейтеді.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366260" y="3246120"/>
            <a:ext cx="640080" cy="640080"/>
          </a:xfrm>
          <a:prstGeom prst="ellipse">
            <a:avLst/>
          </a:prstGeom>
          <a:solidFill>
            <a:srgbClr val="0B3D54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12564" y="3392424"/>
            <a:ext cx="347472" cy="34747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234940" y="3227832"/>
            <a:ext cx="62892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D5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Дәуірге дәйекті ИИ-агенттер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5234940" y="3611880"/>
            <a:ext cx="628924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Әр тұлғаның мінезі, білімі мен дәуір контексі сақталады.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4366260" y="4206240"/>
            <a:ext cx="640080" cy="640080"/>
          </a:xfrm>
          <a:prstGeom prst="ellipse">
            <a:avLst/>
          </a:prstGeom>
          <a:solidFill>
            <a:srgbClr val="0B3D54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12564" y="4352544"/>
            <a:ext cx="347472" cy="34747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234940" y="4187952"/>
            <a:ext cx="62892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D5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Қазақ және орыс тілінде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5234940" y="4572000"/>
            <a:ext cx="628924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Оқушының тіліне қарай табиғи түрде жауап береді.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4366260" y="5166360"/>
            <a:ext cx="640080" cy="640080"/>
          </a:xfrm>
          <a:prstGeom prst="ellipse">
            <a:avLst/>
          </a:prstGeom>
          <a:solidFill>
            <a:srgbClr val="0B3D54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12564" y="5312664"/>
            <a:ext cx="347472" cy="347472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5234940" y="5148072"/>
            <a:ext cx="62892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D5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Белсенді коммуникация</a:t>
            </a:r>
            <a:endParaRPr lang="en-US" sz="1600" dirty="0"/>
          </a:p>
        </p:txBody>
      </p:sp>
      <p:sp>
        <p:nvSpPr>
          <p:cNvPr id="19" name="Text 13"/>
          <p:cNvSpPr/>
          <p:nvPr/>
        </p:nvSpPr>
        <p:spPr>
          <a:xfrm>
            <a:off x="5234940" y="5532120"/>
            <a:ext cx="628924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Пассивті оқуға қарағанда ақпарат әлдеқайда жақсы бекиді.</a:t>
            </a:r>
            <a:endParaRPr lang="en-US" sz="1300" dirty="0"/>
          </a:p>
        </p:txBody>
      </p:sp>
      <p:sp>
        <p:nvSpPr>
          <p:cNvPr id="20" name="Text 14"/>
          <p:cNvSpPr/>
          <p:nvPr/>
        </p:nvSpPr>
        <p:spPr>
          <a:xfrm>
            <a:off x="10728655" y="6355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10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64008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Tarixi-Timeline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3D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5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МАҚСАТТЫ АУДИТОРИЯ ЖӘНЕ ӘЛЕУМЕТТІК МАҢЫЗДЫЛЫҚ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«Тәуелсіздік ұрпақтары» миссиясымен үндес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3520440" cy="2103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1965960"/>
            <a:ext cx="777240" cy="777240"/>
          </a:xfrm>
          <a:prstGeom prst="ellipse">
            <a:avLst/>
          </a:prstGeom>
          <a:solidFill>
            <a:srgbClr val="0B3D54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2148840"/>
            <a:ext cx="411480" cy="4114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60120" y="278892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D5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Оқушылар мен студенттер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960120" y="324612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E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Тарих пен әдебиетке қызығатын жастар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361688" y="1737360"/>
            <a:ext cx="3520440" cy="2103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681728" y="1965960"/>
            <a:ext cx="777240" cy="777240"/>
          </a:xfrm>
          <a:prstGeom prst="ellipse">
            <a:avLst/>
          </a:prstGeom>
          <a:solidFill>
            <a:srgbClr val="0B3D54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4608" y="2148840"/>
            <a:ext cx="411480" cy="4114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681728" y="278892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D5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Қосымша білім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4681728" y="324612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E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Тарих және әдебиет бойынша курстар, орталықтар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8083296" y="1737360"/>
            <a:ext cx="3520440" cy="2103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403336" y="1965960"/>
            <a:ext cx="777240" cy="777240"/>
          </a:xfrm>
          <a:prstGeom prst="ellipse">
            <a:avLst/>
          </a:prstGeom>
          <a:solidFill>
            <a:srgbClr val="0B3D54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86216" y="2148840"/>
            <a:ext cx="411480" cy="41148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403336" y="278892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D5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Мұғалімдер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8403336" y="324612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E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Сабақты қызықты өткізудің цифрлық құралы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640080" y="4114800"/>
            <a:ext cx="10881360" cy="2011680"/>
          </a:xfrm>
          <a:prstGeom prst="rect">
            <a:avLst/>
          </a:prstGeom>
          <a:solidFill>
            <a:srgbClr val="1C7CA5">
              <a:alpha val="70000"/>
            </a:srgbClr>
          </a:solidFill>
          <a:ln/>
        </p:spPr>
      </p:sp>
      <p:sp>
        <p:nvSpPr>
          <p:cNvPr id="20" name="Shape 15"/>
          <p:cNvSpPr/>
          <p:nvPr/>
        </p:nvSpPr>
        <p:spPr>
          <a:xfrm>
            <a:off x="914400" y="4480560"/>
            <a:ext cx="594360" cy="594360"/>
          </a:xfrm>
          <a:prstGeom prst="ellipse">
            <a:avLst/>
          </a:prstGeom>
          <a:solidFill>
            <a:srgbClr val="0B3D54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2416" y="4608576"/>
            <a:ext cx="338328" cy="338328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737360" y="4416552"/>
            <a:ext cx="2788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Азаматтық бірегейлік</a:t>
            </a:r>
            <a:endParaRPr lang="en-US" sz="1650" dirty="0"/>
          </a:p>
        </p:txBody>
      </p:sp>
      <p:sp>
        <p:nvSpPr>
          <p:cNvPr id="23" name="Shape 17"/>
          <p:cNvSpPr/>
          <p:nvPr/>
        </p:nvSpPr>
        <p:spPr>
          <a:xfrm>
            <a:off x="4389120" y="4498848"/>
            <a:ext cx="0" cy="548640"/>
          </a:xfrm>
          <a:prstGeom prst="line">
            <a:avLst/>
          </a:prstGeom>
          <a:noFill/>
          <a:ln w="12700">
            <a:solidFill>
              <a:srgbClr val="D9D0BE"/>
            </a:solidFill>
            <a:prstDash val="solid"/>
          </a:ln>
        </p:spPr>
      </p:sp>
      <p:sp>
        <p:nvSpPr>
          <p:cNvPr id="24" name="Text 18"/>
          <p:cNvSpPr/>
          <p:nvPr/>
        </p:nvSpPr>
        <p:spPr>
          <a:xfrm>
            <a:off x="4572000" y="4416552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Тарихи тұлғалармен эмпатиялық байланыс азаматтық сана-сезімді қалыптастырады.</a:t>
            </a:r>
            <a:endParaRPr lang="en-US" sz="1450" dirty="0"/>
          </a:p>
        </p:txBody>
      </p:sp>
      <p:sp>
        <p:nvSpPr>
          <p:cNvPr id="25" name="Shape 19"/>
          <p:cNvSpPr/>
          <p:nvPr/>
        </p:nvSpPr>
        <p:spPr>
          <a:xfrm>
            <a:off x="914400" y="5394960"/>
            <a:ext cx="594360" cy="594360"/>
          </a:xfrm>
          <a:prstGeom prst="ellipse">
            <a:avLst/>
          </a:prstGeom>
          <a:solidFill>
            <a:srgbClr val="0B3D54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2416" y="5522976"/>
            <a:ext cx="338328" cy="338328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737360" y="5330952"/>
            <a:ext cx="2788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Мәдени сабақтастық</a:t>
            </a:r>
            <a:endParaRPr lang="en-US" sz="1650" dirty="0"/>
          </a:p>
        </p:txBody>
      </p:sp>
      <p:sp>
        <p:nvSpPr>
          <p:cNvPr id="28" name="Shape 21"/>
          <p:cNvSpPr/>
          <p:nvPr/>
        </p:nvSpPr>
        <p:spPr>
          <a:xfrm>
            <a:off x="4389120" y="5413248"/>
            <a:ext cx="0" cy="548640"/>
          </a:xfrm>
          <a:prstGeom prst="line">
            <a:avLst/>
          </a:prstGeom>
          <a:noFill/>
          <a:ln w="12700">
            <a:solidFill>
              <a:srgbClr val="D9D0BE"/>
            </a:solidFill>
            <a:prstDash val="solid"/>
          </a:ln>
        </p:spPr>
      </p:sp>
      <p:sp>
        <p:nvSpPr>
          <p:cNvPr id="29" name="Text 22"/>
          <p:cNvSpPr/>
          <p:nvPr/>
        </p:nvSpPr>
        <p:spPr>
          <a:xfrm>
            <a:off x="4572000" y="5330952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Тәуелсіздік ұрпағын ұлттық құндылықтар мен тарихи жадпен жалғастырады.</a:t>
            </a:r>
            <a:endParaRPr lang="en-US" sz="1450" dirty="0"/>
          </a:p>
        </p:txBody>
      </p:sp>
      <p:sp>
        <p:nvSpPr>
          <p:cNvPr id="30" name="Text 23"/>
          <p:cNvSpPr/>
          <p:nvPr/>
        </p:nvSpPr>
        <p:spPr>
          <a:xfrm>
            <a:off x="10728655" y="6355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10</a:t>
            </a:r>
            <a:endParaRPr lang="en-US" sz="1000" dirty="0"/>
          </a:p>
        </p:txBody>
      </p:sp>
      <p:sp>
        <p:nvSpPr>
          <p:cNvPr id="31" name="Text 24"/>
          <p:cNvSpPr/>
          <p:nvPr/>
        </p:nvSpPr>
        <p:spPr>
          <a:xfrm>
            <a:off x="64008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Tarixi-Timeline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5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ТЕХНИКАЛЫҚ ІСКЕ АСЫРУ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3D5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Сенімді инженерлік негіз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3035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0B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075688"/>
            <a:ext cx="822960" cy="822960"/>
          </a:xfrm>
          <a:prstGeom prst="ellipse">
            <a:avLst/>
          </a:prstGeom>
          <a:solidFill>
            <a:srgbClr val="0B3D54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6424" y="2267712"/>
            <a:ext cx="438912" cy="43891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965960" y="196596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3D5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Заманауи веб-технологиялар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1965960" y="2350008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Architecture және SOLID принциптері. MVP үшін домендік бөлінісі бар модульді монолит.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17920" y="1783080"/>
            <a:ext cx="53035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0B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492240" y="2075688"/>
            <a:ext cx="822960" cy="822960"/>
          </a:xfrm>
          <a:prstGeom prst="ellipse">
            <a:avLst/>
          </a:prstGeom>
          <a:solidFill>
            <a:srgbClr val="0B3D54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4264" y="2267712"/>
            <a:ext cx="438912" cy="43891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543800" y="196596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3D5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Сенімді ДҚБЖ</a:t>
            </a:r>
            <a:endParaRPr lang="en-US" sz="1550" dirty="0"/>
          </a:p>
        </p:txBody>
      </p:sp>
      <p:sp>
        <p:nvSpPr>
          <p:cNvPr id="13" name="Text 9"/>
          <p:cNvSpPr/>
          <p:nvPr/>
        </p:nvSpPr>
        <p:spPr>
          <a:xfrm>
            <a:off x="7543800" y="2350008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Тарихи деректермен жұмыстың домендік логикасы реляциялық дерекқормен инкапсуляцияланған.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640080" y="3383280"/>
            <a:ext cx="53035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0B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3675888"/>
            <a:ext cx="822960" cy="822960"/>
          </a:xfrm>
          <a:prstGeom prst="ellipse">
            <a:avLst/>
          </a:prstGeom>
          <a:solidFill>
            <a:srgbClr val="0B3D54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6424" y="3867912"/>
            <a:ext cx="438912" cy="43891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965960" y="356616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3D5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LLM интеграциясы</a:t>
            </a:r>
            <a:endParaRPr lang="en-US" sz="1550" dirty="0"/>
          </a:p>
        </p:txBody>
      </p:sp>
      <p:sp>
        <p:nvSpPr>
          <p:cNvPr id="18" name="Text 13"/>
          <p:cNvSpPr/>
          <p:nvPr/>
        </p:nvSpPr>
        <p:spPr>
          <a:xfrm>
            <a:off x="1965960" y="3950208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/ Anthropic / Groq API жеке инфрақұрылым қабатында - vendor lock-in минималды, миграция оңай.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6217920" y="3383280"/>
            <a:ext cx="53035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0B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492240" y="3675888"/>
            <a:ext cx="822960" cy="822960"/>
          </a:xfrm>
          <a:prstGeom prst="ellipse">
            <a:avLst/>
          </a:prstGeom>
          <a:solidFill>
            <a:srgbClr val="0B3D54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3867912"/>
            <a:ext cx="438912" cy="43891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543800" y="356616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3D5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Масштабталу</a:t>
            </a:r>
            <a:endParaRPr lang="en-US" sz="1550" dirty="0"/>
          </a:p>
        </p:txBody>
      </p:sp>
      <p:sp>
        <p:nvSpPr>
          <p:cNvPr id="23" name="Text 17"/>
          <p:cNvSpPr/>
          <p:nvPr/>
        </p:nvSpPr>
        <p:spPr>
          <a:xfrm>
            <a:off x="7543800" y="3950208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API; жүктеме өскенде микросервистік архитектураға дейін кеңейтуге есептелген.</a:t>
            </a:r>
            <a:endParaRPr lang="en-US" sz="1200" dirty="0"/>
          </a:p>
        </p:txBody>
      </p:sp>
      <p:sp>
        <p:nvSpPr>
          <p:cNvPr id="24" name="Shape 18"/>
          <p:cNvSpPr/>
          <p:nvPr/>
        </p:nvSpPr>
        <p:spPr>
          <a:xfrm>
            <a:off x="640080" y="5120640"/>
            <a:ext cx="10881360" cy="1097280"/>
          </a:xfrm>
          <a:prstGeom prst="rect">
            <a:avLst/>
          </a:prstGeom>
          <a:solidFill>
            <a:srgbClr val="0B3D54"/>
          </a:solidFill>
          <a:ln/>
        </p:spPr>
      </p:sp>
      <p:sp>
        <p:nvSpPr>
          <p:cNvPr id="25" name="Shape 19"/>
          <p:cNvSpPr/>
          <p:nvPr/>
        </p:nvSpPr>
        <p:spPr>
          <a:xfrm>
            <a:off x="960120" y="5349240"/>
            <a:ext cx="640080" cy="640080"/>
          </a:xfrm>
          <a:prstGeom prst="ellipse">
            <a:avLst/>
          </a:prstGeom>
          <a:solidFill>
            <a:srgbClr val="E5B23C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6424" y="5495544"/>
            <a:ext cx="347472" cy="347472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783080" y="5212080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E5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Автор:  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ҚР ПІБ МТҚБ Инженерлік орталығының бас бағдарламашысы, техника ғылымдарының магистрі. ПО әзірлеудің толық циклін басқару тәжірибесі.</a:t>
            </a:r>
            <a:endParaRPr lang="en-US" sz="1250" dirty="0"/>
          </a:p>
        </p:txBody>
      </p:sp>
      <p:sp>
        <p:nvSpPr>
          <p:cNvPr id="28" name="Text 21"/>
          <p:cNvSpPr/>
          <p:nvPr/>
        </p:nvSpPr>
        <p:spPr>
          <a:xfrm>
            <a:off x="10728655" y="6355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10</a:t>
            </a:r>
            <a:endParaRPr lang="en-US" sz="1000" dirty="0"/>
          </a:p>
        </p:txBody>
      </p:sp>
      <p:sp>
        <p:nvSpPr>
          <p:cNvPr id="29" name="Text 22"/>
          <p:cNvSpPr/>
          <p:nvPr/>
        </p:nvSpPr>
        <p:spPr>
          <a:xfrm>
            <a:off x="64008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Tarixi-Timeline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5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ШЫҒЫНДАР СМЕТАСЫ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3D5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Грант бюджеті - 3 000 000 ₸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4937760" cy="4206240"/>
          </a:xfrm>
          <a:prstGeom prst="rect">
            <a:avLst/>
          </a:prstGeom>
          <a:solidFill>
            <a:srgbClr val="0B3D54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60120" y="224028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5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ЖАЛПЫ БЮДЖЕТ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60604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3 000 000 ₸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960120" y="35661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бағыт бойынша бөлінген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960120" y="4206240"/>
            <a:ext cx="716280" cy="502920"/>
          </a:xfrm>
          <a:prstGeom prst="rect">
            <a:avLst/>
          </a:prstGeom>
          <a:solidFill>
            <a:srgbClr val="0B3D54"/>
          </a:solidFill>
          <a:ln/>
        </p:spPr>
      </p:sp>
      <p:sp>
        <p:nvSpPr>
          <p:cNvPr id="9" name="Shape 7"/>
          <p:cNvSpPr/>
          <p:nvPr/>
        </p:nvSpPr>
        <p:spPr>
          <a:xfrm>
            <a:off x="1676400" y="4206240"/>
            <a:ext cx="859536" cy="502920"/>
          </a:xfrm>
          <a:prstGeom prst="rect">
            <a:avLst/>
          </a:prstGeom>
          <a:solidFill>
            <a:srgbClr val="1C7CA5"/>
          </a:solidFill>
          <a:ln/>
        </p:spPr>
      </p:sp>
      <p:sp>
        <p:nvSpPr>
          <p:cNvPr id="10" name="Shape 8"/>
          <p:cNvSpPr/>
          <p:nvPr/>
        </p:nvSpPr>
        <p:spPr>
          <a:xfrm>
            <a:off x="2535936" y="4206240"/>
            <a:ext cx="1002792" cy="502920"/>
          </a:xfrm>
          <a:prstGeom prst="rect">
            <a:avLst/>
          </a:prstGeom>
          <a:solidFill>
            <a:srgbClr val="E5B23C"/>
          </a:solidFill>
          <a:ln/>
        </p:spPr>
      </p:sp>
      <p:sp>
        <p:nvSpPr>
          <p:cNvPr id="11" name="Shape 9"/>
          <p:cNvSpPr/>
          <p:nvPr/>
        </p:nvSpPr>
        <p:spPr>
          <a:xfrm>
            <a:off x="3538728" y="4206240"/>
            <a:ext cx="429768" cy="502920"/>
          </a:xfrm>
          <a:prstGeom prst="rect">
            <a:avLst/>
          </a:prstGeom>
          <a:solidFill>
            <a:srgbClr val="C9962B"/>
          </a:solidFill>
          <a:ln/>
        </p:spPr>
      </p:sp>
      <p:sp>
        <p:nvSpPr>
          <p:cNvPr id="12" name="Shape 10"/>
          <p:cNvSpPr/>
          <p:nvPr/>
        </p:nvSpPr>
        <p:spPr>
          <a:xfrm>
            <a:off x="3968496" y="4206240"/>
            <a:ext cx="573024" cy="502920"/>
          </a:xfrm>
          <a:prstGeom prst="rect">
            <a:avLst/>
          </a:prstGeom>
          <a:solidFill>
            <a:srgbClr val="5E8CA0"/>
          </a:solidFill>
          <a:ln/>
        </p:spPr>
      </p:sp>
      <p:sp>
        <p:nvSpPr>
          <p:cNvPr id="13" name="Shape 11"/>
          <p:cNvSpPr/>
          <p:nvPr/>
        </p:nvSpPr>
        <p:spPr>
          <a:xfrm>
            <a:off x="4541520" y="4206240"/>
            <a:ext cx="286512" cy="502920"/>
          </a:xfrm>
          <a:prstGeom prst="rect">
            <a:avLst/>
          </a:prstGeom>
          <a:solidFill>
            <a:srgbClr val="8FB3C4"/>
          </a:solidFill>
          <a:ln/>
        </p:spPr>
      </p:sp>
      <p:sp>
        <p:nvSpPr>
          <p:cNvPr id="14" name="Shape 12"/>
          <p:cNvSpPr/>
          <p:nvPr/>
        </p:nvSpPr>
        <p:spPr>
          <a:xfrm>
            <a:off x="4828032" y="4206240"/>
            <a:ext cx="429768" cy="502920"/>
          </a:xfrm>
          <a:prstGeom prst="rect">
            <a:avLst/>
          </a:prstGeom>
          <a:solidFill>
            <a:srgbClr val="A8742E"/>
          </a:solidFill>
          <a:ln/>
        </p:spPr>
      </p:sp>
      <p:sp>
        <p:nvSpPr>
          <p:cNvPr id="15" name="Shape 13"/>
          <p:cNvSpPr/>
          <p:nvPr/>
        </p:nvSpPr>
        <p:spPr>
          <a:xfrm>
            <a:off x="960120" y="4206240"/>
            <a:ext cx="4297680" cy="502920"/>
          </a:xfrm>
          <a:prstGeom prst="rect">
            <a:avLst/>
          </a:prstGeom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0120" y="493776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E5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23% 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Әзірлеу   </a:t>
            </a:r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E5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 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API/лиц.   </a:t>
            </a:r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E5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17% 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Инфрақұрылым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897880" y="1783080"/>
            <a:ext cx="164592" cy="457200"/>
          </a:xfrm>
          <a:prstGeom prst="rect">
            <a:avLst/>
          </a:prstGeom>
          <a:solidFill>
            <a:srgbClr val="0B3D54"/>
          </a:solidFill>
          <a:ln/>
        </p:spPr>
      </p:sp>
      <p:sp>
        <p:nvSpPr>
          <p:cNvPr id="18" name="Text 16"/>
          <p:cNvSpPr/>
          <p:nvPr/>
        </p:nvSpPr>
        <p:spPr>
          <a:xfrm>
            <a:off x="6199632" y="178308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Бұлттық инфрақұрылым, хостинг, серверлер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241280" y="17830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3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500 000 ₸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897880" y="2350008"/>
            <a:ext cx="164592" cy="457200"/>
          </a:xfrm>
          <a:prstGeom prst="rect">
            <a:avLst/>
          </a:prstGeom>
          <a:solidFill>
            <a:srgbClr val="1C7CA5"/>
          </a:solidFill>
          <a:ln/>
        </p:spPr>
      </p:sp>
      <p:sp>
        <p:nvSpPr>
          <p:cNvPr id="21" name="Text 19"/>
          <p:cNvSpPr/>
          <p:nvPr/>
        </p:nvSpPr>
        <p:spPr>
          <a:xfrm>
            <a:off x="6199632" y="235000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Жазылымдар, лицензиялар, API-қызметтер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241280" y="235000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3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600 000 ₸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897880" y="2916936"/>
            <a:ext cx="164592" cy="457200"/>
          </a:xfrm>
          <a:prstGeom prst="rect">
            <a:avLst/>
          </a:prstGeom>
          <a:solidFill>
            <a:srgbClr val="E5B23C"/>
          </a:solidFill>
          <a:ln/>
        </p:spPr>
      </p:sp>
      <p:sp>
        <p:nvSpPr>
          <p:cNvPr id="24" name="Text 22"/>
          <p:cNvSpPr/>
          <p:nvPr/>
        </p:nvSpPr>
        <p:spPr>
          <a:xfrm>
            <a:off x="6199632" y="2916936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әзірлеу қызметтері (мердігерлік)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0241280" y="2916936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3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700 000 ₸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897880" y="3483864"/>
            <a:ext cx="164592" cy="457200"/>
          </a:xfrm>
          <a:prstGeom prst="rect">
            <a:avLst/>
          </a:prstGeom>
          <a:solidFill>
            <a:srgbClr val="C9962B"/>
          </a:solidFill>
          <a:ln/>
        </p:spPr>
      </p:sp>
      <p:sp>
        <p:nvSpPr>
          <p:cNvPr id="27" name="Text 25"/>
          <p:cNvSpPr/>
          <p:nvPr/>
        </p:nvSpPr>
        <p:spPr>
          <a:xfrm>
            <a:off x="6199632" y="3483864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UI/UX интерфейс дизайны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0241280" y="3483864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3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300 000 ₸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897880" y="4050792"/>
            <a:ext cx="164592" cy="457200"/>
          </a:xfrm>
          <a:prstGeom prst="rect">
            <a:avLst/>
          </a:prstGeom>
          <a:solidFill>
            <a:srgbClr val="5E8CA0"/>
          </a:solidFill>
          <a:ln/>
        </p:spPr>
      </p:sp>
      <p:sp>
        <p:nvSpPr>
          <p:cNvPr id="30" name="Text 28"/>
          <p:cNvSpPr/>
          <p:nvPr/>
        </p:nvSpPr>
        <p:spPr>
          <a:xfrm>
            <a:off x="6199632" y="4050792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Маркетинг, жылжыту, медиаконтент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0241280" y="405079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3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400 000 ₸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897880" y="4617720"/>
            <a:ext cx="164592" cy="457200"/>
          </a:xfrm>
          <a:prstGeom prst="rect">
            <a:avLst/>
          </a:prstGeom>
          <a:solidFill>
            <a:srgbClr val="8FB3C4"/>
          </a:solidFill>
          <a:ln/>
        </p:spPr>
      </p:sp>
      <p:sp>
        <p:nvSpPr>
          <p:cNvPr id="33" name="Text 31"/>
          <p:cNvSpPr/>
          <p:nvPr/>
        </p:nvSpPr>
        <p:spPr>
          <a:xfrm>
            <a:off x="6199632" y="461772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Заңды-ұйымдастырушылық сүйемелдеу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10241280" y="46177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3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200 000 ₸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897880" y="5184648"/>
            <a:ext cx="164592" cy="457200"/>
          </a:xfrm>
          <a:prstGeom prst="rect">
            <a:avLst/>
          </a:prstGeom>
          <a:solidFill>
            <a:srgbClr val="A8742E"/>
          </a:solidFill>
          <a:ln/>
        </p:spPr>
      </p:sp>
      <p:sp>
        <p:nvSpPr>
          <p:cNvPr id="36" name="Text 34"/>
          <p:cNvSpPr/>
          <p:nvPr/>
        </p:nvSpPr>
        <p:spPr>
          <a:xfrm>
            <a:off x="6199632" y="518464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Өзге (күтпеген) шығындар - резерв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10241280" y="518464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3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300 000 ₸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5897880" y="5769864"/>
            <a:ext cx="5715000" cy="0"/>
          </a:xfrm>
          <a:prstGeom prst="line">
            <a:avLst/>
          </a:prstGeom>
          <a:noFill/>
          <a:ln w="19050">
            <a:solidFill>
              <a:srgbClr val="E5B23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199632" y="584301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БАРЛЫҒЫ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10058400" y="5843016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C996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3 000 000 ₸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10728655" y="6355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10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4008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Tarixi-Timeline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3D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029200" cy="5029200"/>
          </a:xfrm>
          <a:prstGeom prst="ellipse">
            <a:avLst/>
          </a:prstGeom>
          <a:solidFill>
            <a:srgbClr val="1C7CA5">
              <a:alpha val="3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5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ЖОЛ КАРТАСЫ ЖӘНЕ БОЛАШАҚ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MVP-ден ұлттық платформаға дейін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1645920" y="2286000"/>
            <a:ext cx="8869680" cy="0"/>
          </a:xfrm>
          <a:prstGeom prst="line">
            <a:avLst/>
          </a:prstGeom>
          <a:noFill/>
          <a:ln w="25400">
            <a:solidFill>
              <a:srgbClr val="E5B23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591056" y="2231136"/>
            <a:ext cx="109728" cy="109728"/>
          </a:xfrm>
          <a:prstGeom prst="ellipse">
            <a:avLst/>
          </a:prstGeom>
          <a:solidFill>
            <a:srgbClr val="E5B23C"/>
          </a:solidFill>
          <a:ln/>
        </p:spPr>
      </p:sp>
      <p:sp>
        <p:nvSpPr>
          <p:cNvPr id="7" name="Shape 5"/>
          <p:cNvSpPr/>
          <p:nvPr/>
        </p:nvSpPr>
        <p:spPr>
          <a:xfrm>
            <a:off x="4547616" y="2231136"/>
            <a:ext cx="109728" cy="109728"/>
          </a:xfrm>
          <a:prstGeom prst="ellipse">
            <a:avLst/>
          </a:prstGeom>
          <a:solidFill>
            <a:srgbClr val="E5B23C"/>
          </a:solidFill>
          <a:ln/>
        </p:spPr>
      </p:sp>
      <p:sp>
        <p:nvSpPr>
          <p:cNvPr id="8" name="Shape 6"/>
          <p:cNvSpPr/>
          <p:nvPr/>
        </p:nvSpPr>
        <p:spPr>
          <a:xfrm>
            <a:off x="7504176" y="2231136"/>
            <a:ext cx="109728" cy="109728"/>
          </a:xfrm>
          <a:prstGeom prst="ellipse">
            <a:avLst/>
          </a:prstGeom>
          <a:solidFill>
            <a:srgbClr val="E5B23C"/>
          </a:solidFill>
          <a:ln/>
        </p:spPr>
      </p:sp>
      <p:sp>
        <p:nvSpPr>
          <p:cNvPr id="9" name="Shape 7"/>
          <p:cNvSpPr/>
          <p:nvPr/>
        </p:nvSpPr>
        <p:spPr>
          <a:xfrm>
            <a:off x="10460736" y="2231136"/>
            <a:ext cx="109728" cy="109728"/>
          </a:xfrm>
          <a:prstGeom prst="ellipse">
            <a:avLst/>
          </a:prstGeom>
          <a:solidFill>
            <a:srgbClr val="E5B23C"/>
          </a:solidFill>
          <a:ln/>
        </p:spPr>
      </p:sp>
      <p:sp>
        <p:nvSpPr>
          <p:cNvPr id="10" name="Shape 8"/>
          <p:cNvSpPr/>
          <p:nvPr/>
        </p:nvSpPr>
        <p:spPr>
          <a:xfrm>
            <a:off x="1527048" y="2167128"/>
            <a:ext cx="237744" cy="237744"/>
          </a:xfrm>
          <a:prstGeom prst="ellipse">
            <a:avLst/>
          </a:prstGeom>
          <a:solidFill>
            <a:srgbClr val="E5B23C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25146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5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1-кезең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48640" y="28346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Іргетас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48640" y="3218688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Архитектура, ДҚ,</a:t>
            </a:r>
            <a:endParaRPr lang="en-US" sz="11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таймлайн ядросы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483608" y="2167128"/>
            <a:ext cx="237744" cy="237744"/>
          </a:xfrm>
          <a:prstGeom prst="ellipse">
            <a:avLst/>
          </a:prstGeom>
          <a:solidFill>
            <a:srgbClr val="E5B23C"/>
          </a:solidFill>
          <a:ln/>
        </p:spPr>
      </p:sp>
      <p:sp>
        <p:nvSpPr>
          <p:cNvPr id="15" name="Text 13"/>
          <p:cNvSpPr/>
          <p:nvPr/>
        </p:nvSpPr>
        <p:spPr>
          <a:xfrm>
            <a:off x="3505200" y="25146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5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2-кезең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505200" y="28346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ИИ-чат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3505200" y="3218688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интеграциясы,</a:t>
            </a:r>
            <a:endParaRPr lang="en-US" sz="11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агенттер контексі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7440168" y="2167128"/>
            <a:ext cx="237744" cy="237744"/>
          </a:xfrm>
          <a:prstGeom prst="ellipse">
            <a:avLst/>
          </a:prstGeom>
          <a:solidFill>
            <a:srgbClr val="E5B23C"/>
          </a:solidFill>
          <a:ln/>
        </p:spPr>
      </p:sp>
      <p:sp>
        <p:nvSpPr>
          <p:cNvPr id="19" name="Text 17"/>
          <p:cNvSpPr/>
          <p:nvPr/>
        </p:nvSpPr>
        <p:spPr>
          <a:xfrm>
            <a:off x="6461760" y="25146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5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3-кезең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61760" y="28346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MVP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461760" y="3218688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UI/UX, мобильді</a:t>
            </a:r>
            <a:endParaRPr lang="en-US" sz="11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бейімдеу, тестілеу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10396728" y="2167128"/>
            <a:ext cx="237744" cy="237744"/>
          </a:xfrm>
          <a:prstGeom prst="ellipse">
            <a:avLst/>
          </a:prstGeom>
          <a:solidFill>
            <a:srgbClr val="E5B23C"/>
          </a:solidFill>
          <a:ln/>
        </p:spPr>
      </p:sp>
      <p:sp>
        <p:nvSpPr>
          <p:cNvPr id="23" name="Text 21"/>
          <p:cNvSpPr/>
          <p:nvPr/>
        </p:nvSpPr>
        <p:spPr>
          <a:xfrm>
            <a:off x="9418320" y="25146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5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4-кезең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9418320" y="28346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Іске қосу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9418320" y="3218688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Маркетинг,</a:t>
            </a:r>
            <a:endParaRPr lang="en-US" sz="11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алғашқы аудитория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40080" y="4206240"/>
            <a:ext cx="10908792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868680" y="4434840"/>
            <a:ext cx="594360" cy="594360"/>
          </a:xfrm>
          <a:prstGeom prst="ellipse">
            <a:avLst/>
          </a:prstGeom>
          <a:solidFill>
            <a:srgbClr val="0B3D54"/>
          </a:solidFill>
          <a:ln/>
        </p:spPr>
      </p:sp>
      <p:pic>
        <p:nvPicPr>
          <p:cNvPr id="2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6696" y="4562856"/>
            <a:ext cx="338328" cy="338328"/>
          </a:xfrm>
          <a:prstGeom prst="rect">
            <a:avLst/>
          </a:prstGeom>
        </p:spPr>
      </p:pic>
      <p:sp>
        <p:nvSpPr>
          <p:cNvPr id="29" name="Text 26"/>
          <p:cNvSpPr/>
          <p:nvPr/>
        </p:nvSpPr>
        <p:spPr>
          <a:xfrm>
            <a:off x="1691640" y="434340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3D5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Келесі маңызды қадам: Интерактивті тарихи карта</a:t>
            </a:r>
            <a:endParaRPr lang="en-US" sz="1650" dirty="0"/>
          </a:p>
        </p:txBody>
      </p:sp>
      <p:sp>
        <p:nvSpPr>
          <p:cNvPr id="30" name="Text 27"/>
          <p:cNvSpPr/>
          <p:nvPr/>
        </p:nvSpPr>
        <p:spPr>
          <a:xfrm>
            <a:off x="1691640" y="475488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Кеңістік пен уақыт синхроны. Таймлайндағы ползунокты жылжыту арқылы картадағы шекаралардың өзгеруін бақылау. Оқиғаны, оның орналасқан жерін және ИИ-тұлғаның пікірін бір жүйеде біріктіру.</a:t>
            </a:r>
            <a:endParaRPr lang="en-US" sz="1250" dirty="0"/>
          </a:p>
        </p:txBody>
      </p:sp>
      <p:sp>
        <p:nvSpPr>
          <p:cNvPr id="31" name="Shape 28"/>
          <p:cNvSpPr/>
          <p:nvPr/>
        </p:nvSpPr>
        <p:spPr>
          <a:xfrm>
            <a:off x="640080" y="5577840"/>
            <a:ext cx="10908792" cy="914400"/>
          </a:xfrm>
          <a:prstGeom prst="rect">
            <a:avLst/>
          </a:prstGeom>
          <a:solidFill>
            <a:srgbClr val="E5B23C"/>
          </a:solidFill>
          <a:ln/>
        </p:spPr>
      </p:sp>
      <p:sp>
        <p:nvSpPr>
          <p:cNvPr id="32" name="Text 29"/>
          <p:cNvSpPr/>
          <p:nvPr/>
        </p:nvSpPr>
        <p:spPr>
          <a:xfrm>
            <a:off x="960120" y="562356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3D5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Тарихты жаттатпай, сүйдіретін платформа.</a:t>
            </a:r>
            <a:endParaRPr lang="en-US" sz="1800" dirty="0"/>
          </a:p>
        </p:txBody>
      </p:sp>
      <p:sp>
        <p:nvSpPr>
          <p:cNvPr id="33" name="Text 30"/>
          <p:cNvSpPr/>
          <p:nvPr/>
        </p:nvSpPr>
        <p:spPr>
          <a:xfrm>
            <a:off x="960120" y="603504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A2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Жаңа ұрпақты тәуелсіздік тарихымен жалғастырамыз.</a:t>
            </a:r>
            <a:endParaRPr lang="en-US" sz="1400" dirty="0"/>
          </a:p>
        </p:txBody>
      </p:sp>
      <p:pic>
        <p:nvPicPr>
          <p:cNvPr id="3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0" y="5797296"/>
            <a:ext cx="256032" cy="256032"/>
          </a:xfrm>
          <a:prstGeom prst="rect">
            <a:avLst/>
          </a:prstGeom>
        </p:spPr>
      </p:pic>
      <p:sp>
        <p:nvSpPr>
          <p:cNvPr id="35" name="Text 31"/>
          <p:cNvSpPr/>
          <p:nvPr/>
        </p:nvSpPr>
        <p:spPr>
          <a:xfrm>
            <a:off x="8275320" y="57607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3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bekasyl.kar@gmail.com</a:t>
            </a:r>
            <a:endParaRPr lang="en-US" sz="1200" dirty="0"/>
          </a:p>
        </p:txBody>
      </p:sp>
      <p:pic>
        <p:nvPicPr>
          <p:cNvPr id="3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0" y="6163056"/>
            <a:ext cx="256032" cy="256032"/>
          </a:xfrm>
          <a:prstGeom prst="rect">
            <a:avLst/>
          </a:prstGeom>
        </p:spPr>
      </p:pic>
      <p:sp>
        <p:nvSpPr>
          <p:cNvPr id="37" name="Text 32"/>
          <p:cNvSpPr/>
          <p:nvPr/>
        </p:nvSpPr>
        <p:spPr>
          <a:xfrm>
            <a:off x="8275320" y="61264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3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github.com/bekarazhan/tarixi-timeline</a:t>
            </a:r>
            <a:endParaRPr lang="en-US" sz="1100" dirty="0"/>
          </a:p>
        </p:txBody>
      </p:sp>
      <p:sp>
        <p:nvSpPr>
          <p:cNvPr id="38" name="Text 33"/>
          <p:cNvSpPr/>
          <p:nvPr/>
        </p:nvSpPr>
        <p:spPr>
          <a:xfrm>
            <a:off x="10728655" y="6355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10</a:t>
            </a:r>
            <a:endParaRPr lang="en-US" sz="1000" dirty="0"/>
          </a:p>
        </p:txBody>
      </p:sp>
      <p:sp>
        <p:nvSpPr>
          <p:cNvPr id="39" name="Text 34"/>
          <p:cNvSpPr/>
          <p:nvPr/>
        </p:nvSpPr>
        <p:spPr>
          <a:xfrm>
            <a:off x="64008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Tarixi-Timeline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Tarixi-Timeline - Тәуелсіздік ұрпақтары</dc:title>
  <dc:subject>PptxGenJS Presentation</dc:subject>
  <dc:creator>Bekassyl Karazhan</dc:creator>
  <cp:lastModifiedBy>Bekassyl Karazhan</cp:lastModifiedBy>
  <cp:revision>1</cp:revision>
  <dcterms:created xsi:type="dcterms:W3CDTF">2026-06-21T16:34:15Z</dcterms:created>
  <dcterms:modified xsi:type="dcterms:W3CDTF">2026-06-21T16:34:15Z</dcterms:modified>
</cp:coreProperties>
</file>