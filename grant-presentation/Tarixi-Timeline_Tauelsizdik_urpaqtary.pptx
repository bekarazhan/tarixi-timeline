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41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011680"/>
            <a:ext cx="5029200" cy="5029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480560"/>
            <a:ext cx="2926080" cy="2926080"/>
          </a:xfrm>
          <a:prstGeom prst="ellipse">
            <a:avLst/>
          </a:prstGeom>
          <a:solidFill>
            <a:srgbClr val="E6B94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ТӘУЕЛСІЗДІК ҰРПАҚТАРЫ · ГРАНТ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Tarixi-Timeline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Қазақстан тарихын әлемдік тарих пен жаһандық мәдени контексте көрсетіп, тарихи тұлғалармен ЖИ-</a:t>
            </a:r>
            <a:r>
              <a:rPr lang="en-US" sz="19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сұхбат</a:t>
            </a:r>
            <a:r>
              <a:rPr lang="en-US" sz="19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k-KZ" sz="19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жасауға мүмкіндік беретін</a:t>
            </a:r>
            <a:r>
              <a:rPr lang="en-US" sz="19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интерактивті платформа.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4297680"/>
            <a:ext cx="5669280" cy="0"/>
          </a:xfrm>
          <a:prstGeom prst="line">
            <a:avLst/>
          </a:prstGeom>
          <a:noFill/>
          <a:ln w="25400">
            <a:solidFill>
              <a:srgbClr val="E6B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0" name="Shape 8"/>
          <p:cNvSpPr/>
          <p:nvPr/>
        </p:nvSpPr>
        <p:spPr>
          <a:xfrm>
            <a:off x="3054096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21808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5664" y="424281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Бағыт:  </a:t>
            </a:r>
            <a:r>
              <a:rPr lang="en-US" sz="15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Ақпараттық технологиялар (EdTech)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сомасы:  </a:t>
            </a:r>
            <a:r>
              <a:rPr lang="en-US" sz="15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3 000 000 теңге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Bekassyl Karazhan · ҚР ПІБ МТҚБ Инженерлік орталығының бас бағдарламашысы, техника ғылымдарының магистрі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МӘСЕЛЕ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k-KZ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Біз тарихты білмейміз!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32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k-KZ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Тарихты о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қыту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негізінен</a:t>
            </a:r>
            <a:r>
              <a:rPr lang="kk-KZ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әрқашан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даталар мен фактілерді механикалық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жаттауға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бағытталған</a:t>
            </a:r>
            <a:r>
              <a:rPr lang="kk-KZ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болатын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пәнді үстірт қабылдауды қалыптастырады және оқушылардың қызығушылығын төмендетеді.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5532120" cy="54864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86200"/>
            <a:ext cx="5532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кемшілік — эмпатиялық байланыстың жоқтығы.
</a:t>
            </a:r>
            <a:r>
              <a:rPr lang="en-US" sz="15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Оқушылар тарихи тұлғаларды мінезі мен дәуір контексі бар нақты адамдар ретінде емес, оқулықтағы дерексіз есімдер ретінде қабылдайды.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074920" cy="13258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075688"/>
            <a:ext cx="566928" cy="56692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911" y="2228759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0" y="1947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Жаттау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498080" y="2404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k-KZ" sz="130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Түсініп оқудың</a:t>
            </a:r>
            <a:r>
              <a:rPr lang="en-US" sz="130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орнына</a:t>
            </a:r>
            <a:r>
              <a:rPr lang="kk-KZ" sz="130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жаттауға жүгіну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46520" y="3182112"/>
            <a:ext cx="5074920" cy="13258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3566160"/>
            <a:ext cx="566928" cy="56692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911" y="371923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34381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k-KZ" sz="1900" b="1" dirty="0" err="1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Қызуғышылқтың</a:t>
            </a:r>
            <a:r>
              <a:rPr lang="kk-KZ" sz="19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аздығы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498080" y="3895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k-KZ" sz="1300" dirty="0">
                <a:solidFill>
                  <a:srgbClr val="8B91A4"/>
                </a:solidFill>
                <a:latin typeface="Calibri" pitchFamily="34" charset="0"/>
                <a:cs typeface="Calibri" pitchFamily="34" charset="-120"/>
              </a:rPr>
              <a:t>Тарихи кино қарау қызық, ал оқу қызық емес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46520" y="4672584"/>
            <a:ext cx="5074920" cy="13258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720840" y="5056632"/>
            <a:ext cx="566928" cy="56692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911" y="5209703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0" y="49286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Фрагментті білім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498080" y="5385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жүйелі түсініктің орнына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Оқудан</a:t>
            </a: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сұхбатқа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«Tarixi-Timeline» платформасы екі құралды біріктіреді және оқуды пассивті оқу режимінен белсенді коммуникация режиміне көшіреді.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94960" cy="329184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5394960" cy="109728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3063240"/>
            <a:ext cx="868680" cy="8686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04" y="3297784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4114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Интерактивті хронологиялық таймлайн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48463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Тарихи оқиғаларды, даталар мен әдеби дәуірлерді көрнекі әрі құрылымды түрде ұсынады. Оқушы уақыт осінде еркін шарлап, тұлғалар мен оқиғалардың өзара байланысын көреді.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2606040"/>
            <a:ext cx="5394960" cy="329184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2606040"/>
            <a:ext cx="5394960" cy="109728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13" name="Shape 10"/>
          <p:cNvSpPr/>
          <p:nvPr/>
        </p:nvSpPr>
        <p:spPr>
          <a:xfrm>
            <a:off x="6720840" y="3063240"/>
            <a:ext cx="868680" cy="8686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384" y="3297784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4114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Тарихи тұлғалармен ЖИ-сұхбат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720840" y="48463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Генеративті тіл модельдері (LLM) негізінде Қазақстанның тарихи тұлғаларының виртуалды бейнелерімен тірі диалог. Әр агент дәуірге сай мінез бен дәйектілікке ие.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ӨНІМ · ҚАЛАЙ ЖҰМЫС ІСТЕЙДІ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Үш қадамда — тарихпен жанды байланыс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3832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108960" y="2240280"/>
            <a:ext cx="749808" cy="74980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08" y="2442728"/>
            <a:ext cx="344912" cy="34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63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Таймлайнды ашу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 дәуірді немесе оқиғаны таңдайды. Даталар, тұлғалар мен әдеби кезеңдер бір көрнекі осьте.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520440" cy="33832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36008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830568" y="2240280"/>
            <a:ext cx="749808" cy="74980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016" y="2442728"/>
            <a:ext cx="344912" cy="344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3063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Тұлғамен сөйлесу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36008" y="3657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Әл-Фараби, Абай немесе хан-билермен ЖИ арқылы сұхбаттасады - </a:t>
            </a:r>
            <a:r>
              <a:rPr lang="kk-KZ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шын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адаммен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сөйлескендей</a:t>
            </a:r>
            <a:r>
              <a:rPr lang="kk-KZ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болады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1920240"/>
            <a:ext cx="3520440" cy="33832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57616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10552176" y="2240280"/>
            <a:ext cx="749808" cy="749808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4624" y="2442728"/>
            <a:ext cx="344912" cy="344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7616" y="3063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Терең түсіну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57616" y="3657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Эмоциялық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тартылыс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сақтауды арттырады, тарихи ойлауды қалыптастырады.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68680" y="5943600"/>
            <a:ext cx="10424160" cy="0"/>
          </a:xfrm>
          <a:prstGeom prst="line">
            <a:avLst/>
          </a:prstGeom>
          <a:noFill/>
          <a:ln w="25400">
            <a:solidFill>
              <a:srgbClr val="E6B9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381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4" name="Shape 19"/>
          <p:cNvSpPr/>
          <p:nvPr/>
        </p:nvSpPr>
        <p:spPr>
          <a:xfrm>
            <a:off x="255117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5" name="Shape 20"/>
          <p:cNvSpPr/>
          <p:nvPr/>
        </p:nvSpPr>
        <p:spPr>
          <a:xfrm>
            <a:off x="428853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6" name="Shape 21"/>
          <p:cNvSpPr/>
          <p:nvPr/>
        </p:nvSpPr>
        <p:spPr>
          <a:xfrm>
            <a:off x="602589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7" name="Shape 22"/>
          <p:cNvSpPr/>
          <p:nvPr/>
        </p:nvSpPr>
        <p:spPr>
          <a:xfrm>
            <a:off x="776325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8" name="Shape 23"/>
          <p:cNvSpPr/>
          <p:nvPr/>
        </p:nvSpPr>
        <p:spPr>
          <a:xfrm>
            <a:off x="950061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9" name="Shape 24"/>
          <p:cNvSpPr/>
          <p:nvPr/>
        </p:nvSpPr>
        <p:spPr>
          <a:xfrm>
            <a:off x="11237976" y="58887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30" name="Text 25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Таймлайн және детальді ақпарат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" y="1741932"/>
            <a:ext cx="6848856" cy="3888486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Users/bekas/Developer/tarixi-timeline/grant-presentation/screen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766560" cy="38061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530727"/>
            <a:ext cx="310896" cy="310896"/>
          </a:xfrm>
          <a:prstGeom prst="ellipse">
            <a:avLst/>
          </a:prstGeom>
          <a:solidFill>
            <a:srgbClr val="E6B94A"/>
          </a:solidFill>
          <a:ln w="19050">
            <a:solidFill>
              <a:srgbClr val="F5F6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530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29584" y="2274684"/>
            <a:ext cx="310896" cy="310896"/>
          </a:xfrm>
          <a:prstGeom prst="ellipse">
            <a:avLst/>
          </a:prstGeom>
          <a:solidFill>
            <a:srgbClr val="E6B94A"/>
          </a:solidFill>
          <a:ln w="19050">
            <a:solidFill>
              <a:srgbClr val="F5F6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9584" y="22746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47565" y="3264294"/>
            <a:ext cx="310896" cy="310896"/>
          </a:xfrm>
          <a:prstGeom prst="ellipse">
            <a:avLst/>
          </a:prstGeom>
          <a:solidFill>
            <a:srgbClr val="E6B94A"/>
          </a:solidFill>
          <a:ln w="19050">
            <a:solidFill>
              <a:srgbClr val="F5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7565" y="32642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67912" y="5167389"/>
            <a:ext cx="310896" cy="310896"/>
          </a:xfrm>
          <a:prstGeom prst="ellipse">
            <a:avLst/>
          </a:prstGeom>
          <a:solidFill>
            <a:srgbClr val="E6B94A"/>
          </a:solidFill>
          <a:ln w="19050">
            <a:solidFill>
              <a:srgbClr val="F5F6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51673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5797296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5797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" y="5760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Сүзгілер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359152" y="5797296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8" name="Text 15"/>
          <p:cNvSpPr/>
          <p:nvPr/>
        </p:nvSpPr>
        <p:spPr>
          <a:xfrm>
            <a:off x="2359152" y="5797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70048" y="5760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Дәуірлер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059936" y="5797296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1" name="Text 18"/>
          <p:cNvSpPr/>
          <p:nvPr/>
        </p:nvSpPr>
        <p:spPr>
          <a:xfrm>
            <a:off x="4059936" y="5797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70832" y="5760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Тұлғалар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760720" y="5797296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5797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71616" y="5760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Миникарта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7724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ДЕТАЛЬДІ ПАНЕЛЬ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776972" y="2153412"/>
            <a:ext cx="2871216" cy="3527432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8" name="Image 1" descr="/Users/bekas/Developer/tarixi-timeline/grant-presentation/crop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194560"/>
            <a:ext cx="2788920" cy="344513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72400" y="5749424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Объектіні таңдағанда фото, сипаттама және ЖИ-сұхбатты ашатын «Поговорить» батырмасы көрінеді.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· ИННОВАЦИЯ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Тарихи тұлғалармен ЖИ-сұхбат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" y="1696212"/>
            <a:ext cx="3168396" cy="4197096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Users/bekas/Developer/tarixi-timeline/grant-presentation/chat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0861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61888"/>
            <a:ext cx="4183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экран — Әл-Фарабимен қазақша диалог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66260" y="1828800"/>
            <a:ext cx="71579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Эмпатиялық терең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ену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платформаның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</a:t>
            </a:r>
            <a:r>
              <a:rPr lang="kk-KZ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екшеліктердің</a:t>
            </a:r>
            <a:r>
              <a:rPr lang="kk-KZ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бірі.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Оқушы тарихи тұлғамен нақты адаммен сөйлескендей сұхбаттасады,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</a:t>
            </a:r>
            <a:r>
              <a:rPr lang="en-US" sz="16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сақтауды күшейтеді.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66260" y="3246120"/>
            <a:ext cx="640080" cy="6400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082" y="34189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4940" y="3227832"/>
            <a:ext cx="6289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Дәуірге дәйекті ЖИ-агенттер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34940" y="3611880"/>
            <a:ext cx="6289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тұлғаның мінезі, білімі мен дәуір контексі сақталады.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66260" y="4206240"/>
            <a:ext cx="640080" cy="6400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082" y="437906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4940" y="4187952"/>
            <a:ext cx="6289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Қазақ және орыс тілінде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234940" y="4572000"/>
            <a:ext cx="6289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Оқушының тіліне қарай табиғи түрде жауап береді.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366260" y="5166360"/>
            <a:ext cx="640080" cy="6400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082" y="533918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4940" y="5148072"/>
            <a:ext cx="6289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Белсенді коммуникация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234940" y="5532120"/>
            <a:ext cx="6289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Пассивті оқуға қарағанда ақпарат әлдеқайда жақсы бекиді.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МАҚСАТТЫ АУДИТОРИЯ ЖӘНЕ ӘЛЕУМЕТТІК МАҢЫЗДЫЛЫҚ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«Тәуелсіздік ұрпақтары» миссиясымен үндес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1031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1758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Оқушылар мен студенттер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 пен мәдениетке қызығатын жастар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520440" cy="21031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1965960"/>
            <a:ext cx="777240" cy="77724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583" y="21758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Қосымша білім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1728" y="3246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 бойынша курстар мен орталықтар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737360"/>
            <a:ext cx="3520440" cy="21031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1965960"/>
            <a:ext cx="777240" cy="77724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191" y="21758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Мұғалімдер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03336" y="3246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Сабақты қызықты өткізудің цифрлық құралы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10881360" cy="2011680"/>
          </a:xfrm>
          <a:prstGeom prst="rect">
            <a:avLst/>
          </a:prstGeom>
          <a:solidFill>
            <a:srgbClr val="141826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480560"/>
            <a:ext cx="594360" cy="5943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877" y="4641037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4165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Азаматтық бірегейлік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4389120" y="4498848"/>
            <a:ext cx="0" cy="548640"/>
          </a:xfrm>
          <a:prstGeom prst="line">
            <a:avLst/>
          </a:prstGeom>
          <a:noFill/>
          <a:ln w="12700">
            <a:solidFill>
              <a:srgbClr val="2E344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72000" y="44165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Тарихи тұлғалармен эмпатиялық байланыс азаматтық сана-сезімді қалыптастырады.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914400" y="5394960"/>
            <a:ext cx="594360" cy="5943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877" y="5555437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53309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Мәдени сабақтастық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4389120" y="5413248"/>
            <a:ext cx="0" cy="548640"/>
          </a:xfrm>
          <a:prstGeom prst="line">
            <a:avLst/>
          </a:prstGeom>
          <a:noFill/>
          <a:ln w="12700">
            <a:solidFill>
              <a:srgbClr val="2E344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0" y="53309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Тәуелсіздік ұрпағын ұлттық құндылықтар мен тарихи жадпен жалғастырады.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ТЕХНИКАЛЫҚ ІСКЕ АСЫРУ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Сенімді инженерлік негіз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4173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822960" cy="8229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2297887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Заманауи веб-технологиялар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65960" y="23500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және SOLID принциптері. MVP үшін домендік бөлінісі бар модульді монолит.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03520" cy="14173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75688"/>
            <a:ext cx="822960" cy="8229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297887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Сенімді ДҚБЖ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43800" y="23500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Тарихи деректермен жұмыстың домендік логикасы реляциялық дерекқормен инкапсуляцияланған.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03520" cy="14173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675888"/>
            <a:ext cx="822960" cy="8229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99" y="3898087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интеграциясы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65960" y="39502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 / Groq API жеке инфрақұрылым қабатында - vendor lock-in минималды, миграция оңай.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303520" cy="141732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675888"/>
            <a:ext cx="822960" cy="8229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439" y="3898087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Масштабталу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43800" y="39502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API; жүктеме өскенде микросервистік архитектураға дейін кеңейтуге есептелген.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solidFill>
            <a:srgbClr val="141826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0120" y="5349240"/>
            <a:ext cx="640080" cy="64008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942" y="552206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52120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kk-KZ" sz="125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Грантқа үміткер</a:t>
            </a:r>
            <a:r>
              <a:rPr lang="en-US" sz="125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ҚР ПІБ МТҚБ Инженерлік орталығының бас бағдарламашысы, техника ғылымдарының магистрі. ПО әзірлеудің толық циклін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басқару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тәжірибесі</a:t>
            </a:r>
            <a:r>
              <a:rPr lang="kk-KZ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бар майталман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ШЫҒЫНДАР СМЕТАСЫ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Грант бюджеті — 3 000 000 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937760" cy="420624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ЖАЛПЫ БЮДЖЕТ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3 000 000 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бағыт бойынша бөлінген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4206240"/>
            <a:ext cx="71628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" y="4206240"/>
            <a:ext cx="859536" cy="502920"/>
          </a:xfrm>
          <a:prstGeom prst="rect">
            <a:avLst/>
          </a:prstGeom>
          <a:solidFill>
            <a:srgbClr val="5CD4EC"/>
          </a:solidFill>
          <a:ln/>
        </p:spPr>
      </p:sp>
      <p:sp>
        <p:nvSpPr>
          <p:cNvPr id="10" name="Shape 8"/>
          <p:cNvSpPr/>
          <p:nvPr/>
        </p:nvSpPr>
        <p:spPr>
          <a:xfrm>
            <a:off x="2535936" y="4206240"/>
            <a:ext cx="1002792" cy="502920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4206240"/>
            <a:ext cx="429768" cy="502920"/>
          </a:xfrm>
          <a:prstGeom prst="rect">
            <a:avLst/>
          </a:prstGeom>
          <a:solidFill>
            <a:srgbClr val="F79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8496" y="4206240"/>
            <a:ext cx="573024" cy="502920"/>
          </a:xfrm>
          <a:prstGeom prst="rect">
            <a:avLst/>
          </a:prstGeom>
          <a:solidFill>
            <a:srgbClr val="B27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41520" y="4206240"/>
            <a:ext cx="286512" cy="502920"/>
          </a:xfrm>
          <a:prstGeom prst="rect">
            <a:avLst/>
          </a:prstGeom>
          <a:solidFill>
            <a:srgbClr val="EF5A6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28032" y="4206240"/>
            <a:ext cx="429768" cy="502920"/>
          </a:xfrm>
          <a:prstGeom prst="rect">
            <a:avLst/>
          </a:prstGeom>
          <a:solidFill>
            <a:srgbClr val="5FD49A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206240"/>
            <a:ext cx="4297680" cy="502920"/>
          </a:xfrm>
          <a:prstGeom prst="rect">
            <a:avLst/>
          </a:prstGeom>
          <a:ln w="9525">
            <a:solidFill>
              <a:srgbClr val="2E3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937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Әзірлеу   </a:t>
            </a:r>
            <a:r>
              <a:rPr lang="en-US" sz="125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API/лиц.   </a:t>
            </a:r>
            <a:r>
              <a:rPr lang="en-US" sz="125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</a:t>
            </a: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Инфрақұрылым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164592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Бұлттық инфрақұрылым, хостинг, серверлер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500 000 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97880" y="2350008"/>
            <a:ext cx="164592" cy="457200"/>
          </a:xfrm>
          <a:prstGeom prst="rect">
            <a:avLst/>
          </a:prstGeom>
          <a:solidFill>
            <a:srgbClr val="5CD4E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2350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Жазылымдар, лицензиялар, API-қызметтер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0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600 000 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2916936"/>
            <a:ext cx="164592" cy="457200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2916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әзірлеу қызметтері (мердігерлік)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0" y="2916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700 000 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3483864"/>
            <a:ext cx="164592" cy="457200"/>
          </a:xfrm>
          <a:prstGeom prst="rect">
            <a:avLst/>
          </a:prstGeom>
          <a:solidFill>
            <a:srgbClr val="F7903A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3483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интерфейс дизайны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0" y="3483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300 000 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4050792"/>
            <a:ext cx="164592" cy="457200"/>
          </a:xfrm>
          <a:prstGeom prst="rect">
            <a:avLst/>
          </a:prstGeom>
          <a:solidFill>
            <a:srgbClr val="B27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4050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Маркетинг, жылжыту, медиаконтент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41280" y="4050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400 000 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4617720"/>
            <a:ext cx="164592" cy="457200"/>
          </a:xfrm>
          <a:prstGeom prst="rect">
            <a:avLst/>
          </a:prstGeom>
          <a:solidFill>
            <a:srgbClr val="EF5A6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4617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Заңды-ұйымдастырушылық сүйемелдеу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200 000 ₸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5184648"/>
            <a:ext cx="164592" cy="457200"/>
          </a:xfrm>
          <a:prstGeom prst="rect">
            <a:avLst/>
          </a:prstGeom>
          <a:solidFill>
            <a:srgbClr val="5FD49A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Өзге (күтпеген) шығындар - резерв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0" y="5184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300 000 ₸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5769864"/>
            <a:ext cx="5715000" cy="0"/>
          </a:xfrm>
          <a:prstGeom prst="line">
            <a:avLst/>
          </a:prstGeom>
          <a:noFill/>
          <a:ln w="19050">
            <a:solidFill>
              <a:srgbClr val="E6B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5843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БАРЛЫҒЫ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58400" y="5843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6B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3 000 000 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КАРТАСЫ ЖӘНЕ БОЛАШАҚ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MVP-ден ұлттық платформаға дейін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2286000"/>
            <a:ext cx="8869680" cy="0"/>
          </a:xfrm>
          <a:prstGeom prst="line">
            <a:avLst/>
          </a:prstGeom>
          <a:noFill/>
          <a:ln w="25400">
            <a:solidFill>
              <a:srgbClr val="E6B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22311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7" name="Shape 5"/>
          <p:cNvSpPr/>
          <p:nvPr/>
        </p:nvSpPr>
        <p:spPr>
          <a:xfrm>
            <a:off x="4547616" y="22311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8" name="Shape 6"/>
          <p:cNvSpPr/>
          <p:nvPr/>
        </p:nvSpPr>
        <p:spPr>
          <a:xfrm>
            <a:off x="7504176" y="22311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9" name="Shape 7"/>
          <p:cNvSpPr/>
          <p:nvPr/>
        </p:nvSpPr>
        <p:spPr>
          <a:xfrm>
            <a:off x="10460736" y="2231136"/>
            <a:ext cx="109728" cy="109728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0" name="Shape 8"/>
          <p:cNvSpPr/>
          <p:nvPr/>
        </p:nvSpPr>
        <p:spPr>
          <a:xfrm>
            <a:off x="1527048" y="2167128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1-кезең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Іргетас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ДҚ,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таймлайн ядросы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3608" y="2167128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0520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2-кезең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52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ЖИ-сұхбат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5200" y="3218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интеграциясы,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агенттер контексі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40168" y="2167128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3-кезең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17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MVP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1760" y="3218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мобильді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бейімдеу, тестілеу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396728" y="2167128"/>
            <a:ext cx="237744" cy="237744"/>
          </a:xfrm>
          <a:prstGeom prst="ellipse">
            <a:avLst/>
          </a:prstGeom>
          <a:solidFill>
            <a:srgbClr val="E6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4-кезең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Іске қосу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3218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Маркетинг,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алғашқы аудитория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908792" cy="1097280"/>
          </a:xfrm>
          <a:prstGeom prst="rect">
            <a:avLst/>
          </a:prstGeom>
          <a:solidFill>
            <a:srgbClr val="181C28"/>
          </a:solidFill>
          <a:ln w="12700">
            <a:solidFill>
              <a:srgbClr val="2E344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rgbClr val="E6B94A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" y="4595317"/>
            <a:ext cx="273406" cy="27340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Келесі маңызды қадам: Интерактивті тарихи карта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9164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Кеңістік пен уақыт синхроны. Таймлайндағы ползунокты жылжыту арқылы картадағы шекаралардың өзгеруін бақылау. Оқиғаны, оның орналасқан жерін және ЖИ-тұлғаның пікірін бір жүйеде біріктіру.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0080" y="5577840"/>
            <a:ext cx="10908792" cy="914400"/>
          </a:xfrm>
          <a:prstGeom prst="rect">
            <a:avLst/>
          </a:prstGeom>
          <a:solidFill>
            <a:srgbClr val="E6B94A"/>
          </a:solidFill>
          <a:ln/>
        </p:spPr>
      </p:sp>
      <p:sp>
        <p:nvSpPr>
          <p:cNvPr id="32" name="Text 29"/>
          <p:cNvSpPr/>
          <p:nvPr/>
        </p:nvSpPr>
        <p:spPr>
          <a:xfrm>
            <a:off x="960120" y="5623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8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Тарихты жаттатпай, сүйдіретін платформа.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60120" y="6035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ұрпақты тәуелсіздік тарихымен жалғастырамыз.</a:t>
            </a:r>
            <a:endParaRPr lang="en-US" sz="14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5797296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275320" y="5760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0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bekasyl.kar@gmail.com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Tarixi-Timeline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741</Words>
  <Application>Microsoft Macintosh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Tarixi-Timeline - Тәуелсіздік ұрпақтары</dc:title>
  <dc:subject>PptxGenJS Presentation</dc:subject>
  <dc:creator>Bekassyl Karazhan</dc:creator>
  <cp:lastModifiedBy>Bekasyl Karazhan</cp:lastModifiedBy>
  <cp:revision>2</cp:revision>
  <dcterms:created xsi:type="dcterms:W3CDTF">2026-06-21T18:33:50Z</dcterms:created>
  <dcterms:modified xsi:type="dcterms:W3CDTF">2026-06-21T18:47:17Z</dcterms:modified>
</cp:coreProperties>
</file>